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318" r:id="rId2"/>
    <p:sldId id="320" r:id="rId3"/>
    <p:sldId id="319" r:id="rId4"/>
    <p:sldId id="321" r:id="rId5"/>
    <p:sldId id="323" r:id="rId6"/>
    <p:sldId id="322" r:id="rId7"/>
    <p:sldId id="300" r:id="rId8"/>
    <p:sldId id="301" r:id="rId9"/>
    <p:sldId id="304" r:id="rId10"/>
    <p:sldId id="324" r:id="rId11"/>
    <p:sldId id="317" r:id="rId12"/>
    <p:sldId id="305" r:id="rId13"/>
    <p:sldId id="315" r:id="rId14"/>
    <p:sldId id="325" r:id="rId15"/>
    <p:sldId id="306" r:id="rId16"/>
    <p:sldId id="307" r:id="rId17"/>
    <p:sldId id="308" r:id="rId18"/>
    <p:sldId id="309" r:id="rId19"/>
    <p:sldId id="310" r:id="rId20"/>
    <p:sldId id="314" r:id="rId21"/>
    <p:sldId id="313" r:id="rId22"/>
    <p:sldId id="312" r:id="rId23"/>
    <p:sldId id="311" r:id="rId2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C2E74-41BD-CC49-BAF7-E7A4430E79C6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F2327-1510-F34E-ABC2-1BACF51EB15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948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BD94F-C30F-AD4B-9C84-99BF018B9825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5600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67B4-A4B0-234F-77E6-C6466E07A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48047-6353-2491-F0F9-075493989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9018-2A84-0C96-292A-E21F7DAA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DC80F-8EB0-4F27-10FD-8C37B448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3BB72-CB92-C33D-1181-555DB426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018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430F-5A2B-6F12-EF6C-B8BB03E0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D6EA-96A8-2B7D-05F6-83F61A811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59870-2A58-636E-B0E3-70A801FD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437A0-C930-79A7-C4FF-DD54C5EC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7730-CC91-7B2F-0F16-BD965E42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404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554A-B2F9-7118-116F-6F3D6B48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D48ED-987F-484A-EE9B-A08A01F55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898EA-40E9-9B7A-F14C-4D643777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359B-4C31-7AF1-1F2D-66239E83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5C79-AFD6-616F-B6AE-50B600DF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877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EEF2-0E4C-1746-B6F2-6315B206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07061-CF0E-6A80-E6DD-A186B2A22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A8AAE-E442-25DA-0E6C-0C480766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709DB-2233-C554-A983-FBB4393D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D6DE-D8E2-2CE5-7993-C98CD8AB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F0A1A-81E4-CCBD-2D8A-0FCFDA93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7668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1764-CBE2-17BB-D899-7DC20951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4FEB2-C93E-D7AD-AD69-5910C69C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B5A3B-7975-94AB-06F2-8D6F0951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4FEB4-CECA-5D2A-550B-A64566482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3B5DC-72A0-964E-E49A-91FB3789B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B5F8F-CCB1-FEAB-58C3-1A347C24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01F2B-EEED-384D-34CF-D310B224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3A177-AF2E-7763-BC9E-60C9133F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165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B878-BB32-A745-0A12-69BDD2E9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79A83-85CC-0A7F-32CA-D745921E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D6C09-F83A-00AD-3036-CAE4C98F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D8F44-22A7-61BF-02FF-9C7AEC4B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701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51F5F-82F3-215D-D4F7-195EC49B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293F1-1450-8666-980E-CA3EC150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88E6-BD39-4CD8-EEA4-40A21BD7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42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F91E-1DA8-7000-FE40-85A4D875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A7CD-3132-3CC7-E93F-014A4ABF1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B6180-29E0-E330-D9C3-2BD6E1162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D2B98-0FFA-8D13-4E9B-23C5E0A5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C3D3C-5975-A9AB-0E90-1A1446A8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F49F0-680C-95FC-AF6F-11271317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972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DA76-82CB-2FDC-83E7-258BEFBA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D66F0-4E55-F5A3-4DB6-C9F2C93EB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5419C-0A4A-CC71-B56E-B9C4E7022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05455-B5B7-E4A9-DB8B-06BEE5E9D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C5B03-9A04-C936-01BE-AF4C7495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9E9D1-DDF0-72CD-D410-53BDBD2B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580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314E-B203-1353-30D6-F7F1D656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3DC8D-53C5-DC6C-05E5-BB8B609E3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9E09C-D6AA-35DE-D229-DFEECB2E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0795-F306-0874-3D53-8B502C68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FF959-0B93-934F-3816-1FE925DE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431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1737D-8354-FD5D-B856-BFD0FFB8B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46790-4D11-A244-2AAB-DA5F40DC0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02755-E360-7D75-86A8-CCB3F9EB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18EE9-1285-5091-7EBF-D15B5FA0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C1AF-4DD6-6520-AFFD-9F229978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546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720CD-5FB8-F545-DE8A-09F396BA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CD855-95D3-B18D-21D7-C20B1FA4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438BA-201D-0331-70D6-16668097F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58EAA-58B3-434B-97DD-8E7CE02E83D9}" type="datetimeFigureOut">
              <a:rPr lang="en-DE" smtClean="0"/>
              <a:t>04.05.26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F583-AABF-DDDA-9F3B-9ADF30ADB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01402-B112-B199-BF3C-ED506146E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C4C5A-D25D-E843-A982-18D4AE96CC8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004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00D9-D0FC-B143-7C11-99673D11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28.04.2026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EFE8-E3A1-2977-3D32-6EFE43478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77" y="1502230"/>
            <a:ext cx="11299371" cy="5146764"/>
          </a:xfrm>
        </p:spPr>
        <p:txBody>
          <a:bodyPr>
            <a:normAutofit/>
          </a:bodyPr>
          <a:lstStyle/>
          <a:p>
            <a:r>
              <a:rPr lang="en-DE" sz="1800" dirty="0"/>
              <a:t>GDV fixed -&gt; updated GDV curves for hypotheses experiments</a:t>
            </a:r>
          </a:p>
          <a:p>
            <a:r>
              <a:rPr lang="en-GB" sz="1800" dirty="0"/>
              <a:t>S</a:t>
            </a:r>
            <a:r>
              <a:rPr lang="en-DE" sz="1800" dirty="0"/>
              <a:t>ynonym experiment</a:t>
            </a:r>
          </a:p>
          <a:p>
            <a:r>
              <a:rPr lang="en-GB" sz="1800" dirty="0"/>
              <a:t>Gender x Emotion experiment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GB" sz="1800" dirty="0"/>
              <a:t>Define Trajectory:</a:t>
            </a:r>
          </a:p>
          <a:p>
            <a:pPr>
              <a:buFontTx/>
              <a:buChar char="-"/>
            </a:pPr>
            <a:r>
              <a:rPr lang="en-GB" sz="1800" dirty="0"/>
              <a:t>Prompt -&gt; influences </a:t>
            </a:r>
            <a:r>
              <a:rPr lang="en-GB" sz="1800" dirty="0" err="1"/>
              <a:t>clusterability</a:t>
            </a:r>
            <a:r>
              <a:rPr lang="en-GB" sz="1800" dirty="0"/>
              <a:t> etc.? </a:t>
            </a:r>
          </a:p>
          <a:p>
            <a:pPr>
              <a:buFontTx/>
              <a:buChar char="-"/>
            </a:pPr>
            <a:r>
              <a:rPr lang="en-GB" sz="1800" dirty="0"/>
              <a:t>Where do concepts live?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6660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90E3-0EBC-1B1C-3515-7BB79E97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9397"/>
            <a:ext cx="10515600" cy="1325563"/>
          </a:xfrm>
        </p:spPr>
        <p:txBody>
          <a:bodyPr/>
          <a:lstStyle/>
          <a:p>
            <a:r>
              <a:rPr lang="en-GB" dirty="0"/>
              <a:t>Overall findings: 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4F6F5-957B-98B2-8444-246F6D9B9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767" y="1460864"/>
            <a:ext cx="10714463" cy="511692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/>
              <a:t>Best GDV is always in language layers 44–47 (mostly 45) </a:t>
            </a:r>
            <a:r>
              <a:rPr lang="en-GB" dirty="0"/>
              <a:t>, consistent across all 21 experiments.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/>
              <a:t>Synonym test </a:t>
            </a:r>
            <a:r>
              <a:rPr lang="en-GB" dirty="0"/>
              <a:t>shows large impact on the negative modality suggesting that “overwhelming” workload intensifies the negative-interestingness-mode, whereas in the GDV for </a:t>
            </a:r>
            <a:r>
              <a:rPr lang="en-GB" dirty="0" err="1"/>
              <a:t>extreme_positive</a:t>
            </a:r>
            <a:r>
              <a:rPr lang="en-GB" dirty="0"/>
              <a:t> doesn’t change significantly, but label distribution differs -&gt; notable qualitative differences in “interestingness” do exist but do not show up in GDV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/>
              <a:t>Gender × Emotion: </a:t>
            </a:r>
            <a:r>
              <a:rPr lang="en-GB" dirty="0"/>
              <a:t>negative-emotion conditions, anger and sad, show deeper negative GDV than positive emotions, awe and excitement, meaning the model separates interestingness labels more cleanly under negative emotional framing.</a:t>
            </a:r>
            <a:br>
              <a:rPr lang="en-GB" dirty="0"/>
            </a:br>
            <a:r>
              <a:rPr lang="en-GB" dirty="0"/>
              <a:t> (My guess: negative emotional framings converge behaviourally, while positive bring out more persona characteristics -&gt; more ”difficult” to cluster by mere “interestingness”)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/>
              <a:t>Male anger vs Female anger</a:t>
            </a:r>
            <a:r>
              <a:rPr lang="en-GB" dirty="0"/>
              <a:t>: near-identical GDV curves across all layers, but label distribution differs -&gt; notable qualitative differences in “interestingness” do exist but do not show up in GDV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/>
              <a:t>Blank, no persona, sits mid-range</a:t>
            </a:r>
            <a:r>
              <a:rPr lang="en-GB" dirty="0"/>
              <a:t>, confirming the persona does meaningfully shift label separation on ”interestingness”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6399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3AB045-E542-1E44-5435-F2C772F9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" y="431560"/>
            <a:ext cx="11793584" cy="58175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2175C3-AD80-C397-0118-33534C972B49}"/>
              </a:ext>
            </a:extLst>
          </p:cNvPr>
          <p:cNvSpPr/>
          <p:nvPr/>
        </p:nvSpPr>
        <p:spPr>
          <a:xfrm>
            <a:off x="4452730" y="6176963"/>
            <a:ext cx="2246244" cy="5220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100" dirty="0"/>
              <a:t>7319 =&gt; extreme positive </a:t>
            </a:r>
          </a:p>
          <a:p>
            <a:pPr algn="ctr"/>
            <a:r>
              <a:rPr lang="en-DE" sz="1100" dirty="0"/>
              <a:t>5504 =&gt; extreme negative</a:t>
            </a:r>
          </a:p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5345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42BD2A-02F6-80C7-C681-1ED56568A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1" y="1326995"/>
            <a:ext cx="11969642" cy="40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8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8B5D-360D-2B91-3F6E-73F781E4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75FC4-0BEF-AC73-67F5-65A7376DF72F}"/>
              </a:ext>
            </a:extLst>
          </p:cNvPr>
          <p:cNvSpPr/>
          <p:nvPr/>
        </p:nvSpPr>
        <p:spPr>
          <a:xfrm>
            <a:off x="0" y="-15077"/>
            <a:ext cx="12251392" cy="1554892"/>
          </a:xfrm>
          <a:prstGeom prst="rect">
            <a:avLst/>
          </a:prstGeom>
          <a:solidFill>
            <a:srgbClr val="C0E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2EA41-BC6F-A41B-3B59-C50035C8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GDV updated for Hypotheses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FFD99-4387-B9CA-36A2-19E37FFD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1920017"/>
            <a:ext cx="12127992" cy="377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7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93DE-47BC-0605-1F20-F3FDCF03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3BF6FF-0F0C-7454-A5FA-4CA91EE5AF77}"/>
              </a:ext>
            </a:extLst>
          </p:cNvPr>
          <p:cNvSpPr/>
          <p:nvPr/>
        </p:nvSpPr>
        <p:spPr>
          <a:xfrm>
            <a:off x="0" y="-15077"/>
            <a:ext cx="12251392" cy="1554892"/>
          </a:xfrm>
          <a:prstGeom prst="rect">
            <a:avLst/>
          </a:prstGeom>
          <a:solidFill>
            <a:srgbClr val="C0E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70852-127F-C34C-2F37-A7729070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GDV updated for Hypotheses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2C2CEA-10E3-9C62-2113-40694DABC6A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519944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648586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96899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Condition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Best GDV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Best Layer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98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Blank (no persona)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-0.4325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57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Extreme Negative (load=extreme, emotion=anger)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-0.2927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137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Extreme Positive (load=extreme, emotion=excitement)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-0.2713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92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Low Negative (load=low, emotion=fear)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-0.4624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11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Low Positive (load=low, emotion=amusement)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-0.3936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Language 44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5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6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BE5CDA-8E3A-224E-85DB-7D8E558F0842}"/>
              </a:ext>
            </a:extLst>
          </p:cNvPr>
          <p:cNvSpPr/>
          <p:nvPr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E7C0D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A9AE4-A84E-0FDE-7104-C4C99888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Synonym Test: Extreme is a confounder?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2362-0B80-810F-A1FE-8BB5BD228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</a:t>
            </a:r>
            <a:r>
              <a:rPr lang="en-DE" dirty="0"/>
              <a:t>esting the label distribution with a changed prompt.</a:t>
            </a:r>
          </a:p>
          <a:p>
            <a:pPr marL="0" indent="0">
              <a:buNone/>
            </a:pPr>
            <a:r>
              <a:rPr lang="en-DE" dirty="0"/>
              <a:t>“extreme” mental load =&gt; “overwhelming” mental load </a:t>
            </a:r>
          </a:p>
          <a:p>
            <a:pPr marL="0" indent="0">
              <a:buNone/>
            </a:pPr>
            <a:r>
              <a:rPr lang="en-DE" b="1" dirty="0"/>
              <a:t>Why that choice? </a:t>
            </a:r>
          </a:p>
          <a:p>
            <a:pPr marL="0" indent="0">
              <a:buNone/>
            </a:pPr>
            <a:r>
              <a:rPr lang="en-GB" dirty="0"/>
              <a:t>M</a:t>
            </a:r>
            <a:r>
              <a:rPr lang="en-DE" dirty="0"/>
              <a:t>ental load from low -&gt; extreme has a psychological implication: </a:t>
            </a:r>
          </a:p>
          <a:p>
            <a:pPr marL="0" indent="0">
              <a:buNone/>
            </a:pPr>
            <a:r>
              <a:rPr lang="en-DE" dirty="0"/>
              <a:t>psychologically speaking an extreme mental load is unsustainable and thereby has a negative connotation. </a:t>
            </a:r>
          </a:p>
          <a:p>
            <a:pPr marL="0" indent="0">
              <a:buNone/>
            </a:pPr>
            <a:r>
              <a:rPr lang="en-DE" dirty="0"/>
              <a:t>(would like to test “immense” as a less “negative-biased” synonym)</a:t>
            </a:r>
            <a:br>
              <a:rPr lang="en-DE" dirty="0"/>
            </a:b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6611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A11407-DC08-2782-8096-2B5A0FB0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9E4204-6578-AB0C-DFA6-839B542A0073}"/>
              </a:ext>
            </a:extLst>
          </p:cNvPr>
          <p:cNvSpPr/>
          <p:nvPr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E7C0D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91E2D-A770-0F13-9DB9-E3A82985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Extreme is a confounder?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B5393-DBAD-CE8C-A048-B41630E7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5" y="2071513"/>
            <a:ext cx="5994075" cy="3945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A0E38F-6C13-1347-F45D-4F2731C42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71512"/>
            <a:ext cx="6006910" cy="394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4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E3816A-34FB-9310-4E4B-BDB679C2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869EE2-5AE9-8CEC-3EB4-500C94AD4299}"/>
              </a:ext>
            </a:extLst>
          </p:cNvPr>
          <p:cNvSpPr/>
          <p:nvPr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E7C0D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54ACC-6388-B720-5D76-A6D01CCF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Extreme is a confounder?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C9859-C0F4-428F-DBA8-05A1F52A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7" y="1999147"/>
            <a:ext cx="6104015" cy="4017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6088A5-2075-F2CD-4863-CE5DCF843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182" y="1999147"/>
            <a:ext cx="5721779" cy="375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19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BCC3-78BA-0B7F-F6B2-1C5105EF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9F923E-6C65-0E21-2428-A3DBC8427A10}"/>
              </a:ext>
            </a:extLst>
          </p:cNvPr>
          <p:cNvSpPr/>
          <p:nvPr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E7C0D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F09ED-9216-30C0-62AE-EB046B53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Extreme is a confounder?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0951E6-5819-2DC7-8197-EC3F5ED034E5}"/>
              </a:ext>
            </a:extLst>
          </p:cNvPr>
          <p:cNvGraphicFramePr>
            <a:graphicFrameLocks noGrp="1"/>
          </p:cNvGraphicFramePr>
          <p:nvPr/>
        </p:nvGraphicFramePr>
        <p:xfrm>
          <a:off x="334463" y="2414103"/>
          <a:ext cx="3995927" cy="2949635"/>
        </p:xfrm>
        <a:graphic>
          <a:graphicData uri="http://schemas.openxmlformats.org/drawingml/2006/table">
            <a:tbl>
              <a:tblPr/>
              <a:tblGrid>
                <a:gridCol w="1004210">
                  <a:extLst>
                    <a:ext uri="{9D8B030D-6E8A-4147-A177-3AD203B41FA5}">
                      <a16:colId xmlns:a16="http://schemas.microsoft.com/office/drawing/2014/main" val="2786119565"/>
                    </a:ext>
                  </a:extLst>
                </a:gridCol>
                <a:gridCol w="766045">
                  <a:extLst>
                    <a:ext uri="{9D8B030D-6E8A-4147-A177-3AD203B41FA5}">
                      <a16:colId xmlns:a16="http://schemas.microsoft.com/office/drawing/2014/main" val="1338521592"/>
                    </a:ext>
                  </a:extLst>
                </a:gridCol>
                <a:gridCol w="1004141">
                  <a:extLst>
                    <a:ext uri="{9D8B030D-6E8A-4147-A177-3AD203B41FA5}">
                      <a16:colId xmlns:a16="http://schemas.microsoft.com/office/drawing/2014/main" val="4182538969"/>
                    </a:ext>
                  </a:extLst>
                </a:gridCol>
                <a:gridCol w="1221531">
                  <a:extLst>
                    <a:ext uri="{9D8B030D-6E8A-4147-A177-3AD203B41FA5}">
                      <a16:colId xmlns:a16="http://schemas.microsoft.com/office/drawing/2014/main" val="2507144947"/>
                    </a:ext>
                  </a:extLst>
                </a:gridCol>
              </a:tblGrid>
              <a:tr h="58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effectLst/>
                        </a:rPr>
                        <a:t>Condition</a:t>
                      </a:r>
                      <a:endParaRPr lang="en-GB" sz="11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>
                          <a:effectLst/>
                        </a:rPr>
                        <a:t>Best GDV</a:t>
                      </a:r>
                      <a:endParaRPr lang="en-GB" sz="1100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effectLst/>
                        </a:rPr>
                        <a:t>Best Layer</a:t>
                      </a:r>
                      <a:endParaRPr lang="en-GB" sz="11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100" b="1">
                          <a:effectLst/>
                        </a:rPr>
                        <a:t>Δ </a:t>
                      </a:r>
                      <a:r>
                        <a:rPr lang="en-GB" sz="1100" b="1">
                          <a:effectLst/>
                        </a:rPr>
                        <a:t>best GDV vs original</a:t>
                      </a:r>
                      <a:endParaRPr lang="en-GB" sz="11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9958"/>
                  </a:ext>
                </a:extLst>
              </a:tr>
              <a:tr h="58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Extreme Neg original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effectLst/>
                        </a:rPr>
                        <a:t>-0.2927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110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426420"/>
                  </a:ext>
                </a:extLst>
              </a:tr>
              <a:tr h="58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Extreme Neg synonym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 dirty="0">
                          <a:effectLst/>
                        </a:rPr>
                        <a:t>-0.4355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effectLst/>
                        </a:rPr>
                        <a:t>-0.1428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5995"/>
                  </a:ext>
                </a:extLst>
              </a:tr>
              <a:tr h="58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Extreme Pos original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effectLst/>
                        </a:rPr>
                        <a:t>-0.2713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11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285993"/>
                  </a:ext>
                </a:extLst>
              </a:tr>
              <a:tr h="58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Extreme Pos synonym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effectLst/>
                        </a:rPr>
                        <a:t>-0.2970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 dirty="0">
                          <a:effectLst/>
                        </a:rPr>
                        <a:t>-0.0257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330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4453265-7993-BF1F-1167-A320409E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576" y="1813352"/>
            <a:ext cx="7772400" cy="44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5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E792B8-C381-D02A-4045-D0AD2ED51C4F}"/>
              </a:ext>
            </a:extLst>
          </p:cNvPr>
          <p:cNvSpPr/>
          <p:nvPr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E7C0D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76D5A-F236-F8D2-103C-78D3FB7C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28E47-21C0-7075-344A-4CB5B13F8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605"/>
            <a:ext cx="12292149" cy="3588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2D385-00E2-AAC3-E2B1-6CE0CB70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54" y="4153988"/>
            <a:ext cx="10974346" cy="249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9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3A4408-CA74-5C31-B84A-46B9103BD962}"/>
              </a:ext>
            </a:extLst>
          </p:cNvPr>
          <p:cNvSpPr/>
          <p:nvPr/>
        </p:nvSpPr>
        <p:spPr>
          <a:xfrm>
            <a:off x="0" y="0"/>
            <a:ext cx="12277344" cy="1325563"/>
          </a:xfrm>
          <a:prstGeom prst="rect">
            <a:avLst/>
          </a:prstGeom>
          <a:solidFill>
            <a:srgbClr val="DBD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2788B-C6CF-9DEE-2F78-54033E18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I</a:t>
            </a:r>
            <a:r>
              <a:rPr lang="en-DE" sz="3200" dirty="0"/>
              <a:t>mpact of Gender vs. Emotion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210AE-778E-2E9D-4A42-C3F5A2CC0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107" y="1441715"/>
            <a:ext cx="11702893" cy="525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41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CC5906-1617-F696-EBB4-6D0814E21FD7}"/>
              </a:ext>
            </a:extLst>
          </p:cNvPr>
          <p:cNvSpPr/>
          <p:nvPr/>
        </p:nvSpPr>
        <p:spPr>
          <a:xfrm>
            <a:off x="0" y="0"/>
            <a:ext cx="12277344" cy="6858000"/>
          </a:xfrm>
          <a:prstGeom prst="rect">
            <a:avLst/>
          </a:prstGeom>
          <a:solidFill>
            <a:srgbClr val="DBD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66496-CFB2-8D78-BB89-870E069C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C0462-6297-A7A3-B1E8-54FAD47B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1D966-683E-78C2-5022-F21F9D4E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1" y="39189"/>
            <a:ext cx="11783683" cy="3252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F3FDC-1443-1D6D-9D5E-4D4E12469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81" y="3291564"/>
            <a:ext cx="11783682" cy="35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7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FCD8EB-5572-8DB0-7182-2617B03688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67694"/>
          <a:ext cx="10515600" cy="4267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584884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860786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57319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Condition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Best GDV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</a:rPr>
                        <a:t>Best Layer</a:t>
                      </a:r>
                      <a:endParaRPr lang="en-GB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725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F-Anger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-0.5569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84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F-Fear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-0.4832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31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F-Disgust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-0.4755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1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F-Sad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-0.5484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97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F-Amusement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-0.3320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275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F-Awe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-0.3086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75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F-Contentment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-0.4629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78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F-Excitement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-0.3185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Language 45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237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M-Anger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-0.5583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Language 47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26075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424A6E3-D525-DABE-43BC-6CC12C075270}"/>
              </a:ext>
            </a:extLst>
          </p:cNvPr>
          <p:cNvSpPr/>
          <p:nvPr/>
        </p:nvSpPr>
        <p:spPr>
          <a:xfrm>
            <a:off x="0" y="0"/>
            <a:ext cx="12277344" cy="1325563"/>
          </a:xfrm>
          <a:prstGeom prst="rect">
            <a:avLst/>
          </a:prstGeom>
          <a:solidFill>
            <a:srgbClr val="DBD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6E385A-2B5E-C200-055C-F2C3914EEDE4}"/>
              </a:ext>
            </a:extLst>
          </p:cNvPr>
          <p:cNvSpPr txBox="1">
            <a:spLocks/>
          </p:cNvSpPr>
          <p:nvPr/>
        </p:nvSpPr>
        <p:spPr>
          <a:xfrm>
            <a:off x="838200" y="1619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/>
              <a:t>I</a:t>
            </a:r>
            <a:r>
              <a:rPr lang="en-DE" sz="3200"/>
              <a:t>mpact of Gender vs. Emotion</a:t>
            </a:r>
            <a:endParaRPr lang="en-DE" sz="3200" dirty="0"/>
          </a:p>
        </p:txBody>
      </p:sp>
    </p:spTree>
    <p:extLst>
      <p:ext uri="{BB962C8B-B14F-4D97-AF65-F5344CB8AC3E}">
        <p14:creationId xmlns:p14="http://schemas.microsoft.com/office/powerpoint/2010/main" val="129313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20F0-7180-2A33-4D9F-77290609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2 Ways to identify thematic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F5AC3-F998-2AA9-63F0-E54A45384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DE" dirty="0"/>
              <a:t>Analyse the “explanations” via LDA / TF-IDF and color the dots on the gdv plots -&gt; do they they cluster? </a:t>
            </a:r>
          </a:p>
          <a:p>
            <a:pPr marL="514350" indent="-514350">
              <a:buFont typeface="+mj-lt"/>
              <a:buAutoNum type="arabicPeriod"/>
            </a:pPr>
            <a:r>
              <a:rPr lang="en-DE" dirty="0"/>
              <a:t>Analyse the clusters on the gdv plot and ex-post try to identify visual or explanation-based unifying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4180914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F111FC-677A-ABA8-E701-D7EAA605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5053"/>
          <a:stretch>
            <a:fillRect/>
          </a:stretch>
        </p:blipFill>
        <p:spPr>
          <a:xfrm>
            <a:off x="374578" y="81867"/>
            <a:ext cx="6584361" cy="677613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26D6AB-3963-ECB8-4F38-DBA5123B1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576" y="1996750"/>
            <a:ext cx="3055258" cy="4351338"/>
          </a:xfrm>
        </p:spPr>
        <p:txBody>
          <a:bodyPr>
            <a:normAutofit/>
          </a:bodyPr>
          <a:lstStyle/>
          <a:p>
            <a:r>
              <a:rPr lang="en-DE" sz="1600" dirty="0"/>
              <a:t>Thematic Areas exist but no clear thematic clustering by the “LDA” topics</a:t>
            </a:r>
          </a:p>
          <a:p>
            <a:r>
              <a:rPr lang="en-DE" sz="1600" dirty="0"/>
              <a:t>especially “serene” -&gt; correlates with inter-subjective interestingness! </a:t>
            </a:r>
          </a:p>
          <a:p>
            <a:r>
              <a:rPr lang="en-DE" sz="1600" dirty="0"/>
              <a:t>“people” also somewhat clusters </a:t>
            </a:r>
          </a:p>
          <a:p>
            <a:r>
              <a:rPr lang="en-DE" sz="1600" dirty="0"/>
              <a:t>LDA might not be ideal for identifying “themes” from samples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4A481-FCE9-76CF-4682-5EAE359B3F44}"/>
              </a:ext>
            </a:extLst>
          </p:cNvPr>
          <p:cNvSpPr txBox="1"/>
          <p:nvPr/>
        </p:nvSpPr>
        <p:spPr>
          <a:xfrm>
            <a:off x="7398590" y="509912"/>
            <a:ext cx="4162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DE" dirty="0"/>
              <a:t>Analyse the “explanations” via LDA / TF-IDF and color the dots on the gdv plots -&gt; do they they cluster? </a:t>
            </a:r>
          </a:p>
        </p:txBody>
      </p:sp>
    </p:spTree>
    <p:extLst>
      <p:ext uri="{BB962C8B-B14F-4D97-AF65-F5344CB8AC3E}">
        <p14:creationId xmlns:p14="http://schemas.microsoft.com/office/powerpoint/2010/main" val="3160613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F3B7-0BDA-9F99-C673-D6F34271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6CB4C-A5F9-A41A-6F3E-8EF1C0A8D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16D6D-43DB-215E-51B4-BADC1B698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97" b="32346"/>
          <a:stretch>
            <a:fillRect/>
          </a:stretch>
        </p:blipFill>
        <p:spPr>
          <a:xfrm>
            <a:off x="213564" y="68283"/>
            <a:ext cx="7101636" cy="685060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FA266B-D24A-133C-77EC-77CCA0428BC2}"/>
              </a:ext>
            </a:extLst>
          </p:cNvPr>
          <p:cNvSpPr txBox="1">
            <a:spLocks/>
          </p:cNvSpPr>
          <p:nvPr/>
        </p:nvSpPr>
        <p:spPr>
          <a:xfrm>
            <a:off x="8505576" y="1996750"/>
            <a:ext cx="30552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600"/>
              <a:t>Thematic Areas exist but no clear thematic clustering by the “LDA” topics</a:t>
            </a:r>
          </a:p>
          <a:p>
            <a:r>
              <a:rPr lang="en-DE" sz="1600"/>
              <a:t>especially “serene” -&gt; correlates with inter-subjective interestingness! </a:t>
            </a:r>
          </a:p>
          <a:p>
            <a:r>
              <a:rPr lang="en-DE" sz="1600"/>
              <a:t>“people” also somewhat clusters </a:t>
            </a:r>
          </a:p>
          <a:p>
            <a:r>
              <a:rPr lang="en-DE" sz="1600"/>
              <a:t>LDA might not be ideal for identifying “themes” from samples</a:t>
            </a:r>
            <a:endParaRPr lang="en-D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8031C-2D6B-5988-D663-D19996FE1A1B}"/>
              </a:ext>
            </a:extLst>
          </p:cNvPr>
          <p:cNvSpPr txBox="1"/>
          <p:nvPr/>
        </p:nvSpPr>
        <p:spPr>
          <a:xfrm>
            <a:off x="7398590" y="509912"/>
            <a:ext cx="4162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DE" dirty="0"/>
              <a:t>Analyse the “explanations” via LDA / TF-IDF and color the dots on the gdv plots -&gt; do they they cluster? </a:t>
            </a:r>
          </a:p>
        </p:txBody>
      </p:sp>
    </p:spTree>
    <p:extLst>
      <p:ext uri="{BB962C8B-B14F-4D97-AF65-F5344CB8AC3E}">
        <p14:creationId xmlns:p14="http://schemas.microsoft.com/office/powerpoint/2010/main" val="2032659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210F-4403-13FB-149E-2D901A9E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0EEED-5BF7-B6EE-0BDD-B622670A1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860"/>
          <a:stretch>
            <a:fillRect/>
          </a:stretch>
        </p:blipFill>
        <p:spPr>
          <a:xfrm>
            <a:off x="391886" y="0"/>
            <a:ext cx="7013730" cy="66383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57F92C-5634-F264-F4B4-756D0C27F5BA}"/>
              </a:ext>
            </a:extLst>
          </p:cNvPr>
          <p:cNvSpPr txBox="1">
            <a:spLocks/>
          </p:cNvSpPr>
          <p:nvPr/>
        </p:nvSpPr>
        <p:spPr>
          <a:xfrm>
            <a:off x="8505576" y="1996750"/>
            <a:ext cx="30552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600"/>
              <a:t>Thematic Areas exist but no clear thematic clustering by the “LDA” topics</a:t>
            </a:r>
          </a:p>
          <a:p>
            <a:r>
              <a:rPr lang="en-DE" sz="1600"/>
              <a:t>especially “serene” -&gt; correlates with inter-subjective interestingness! </a:t>
            </a:r>
          </a:p>
          <a:p>
            <a:r>
              <a:rPr lang="en-DE" sz="1600"/>
              <a:t>“people” also somewhat clusters </a:t>
            </a:r>
          </a:p>
          <a:p>
            <a:r>
              <a:rPr lang="en-DE" sz="1600"/>
              <a:t>LDA might not be ideal for identifying “themes” from samples</a:t>
            </a:r>
            <a:endParaRPr lang="en-D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302ED-9E12-3FBF-45D2-D7E4BE0EE1B2}"/>
              </a:ext>
            </a:extLst>
          </p:cNvPr>
          <p:cNvSpPr txBox="1"/>
          <p:nvPr/>
        </p:nvSpPr>
        <p:spPr>
          <a:xfrm>
            <a:off x="7398590" y="509912"/>
            <a:ext cx="4162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DE" dirty="0"/>
              <a:t>Analyse the “explanations” via LDA / TF-IDF and color the dots on the gdv plots -&gt; do they they cluster? </a:t>
            </a:r>
          </a:p>
        </p:txBody>
      </p:sp>
    </p:spTree>
    <p:extLst>
      <p:ext uri="{BB962C8B-B14F-4D97-AF65-F5344CB8AC3E}">
        <p14:creationId xmlns:p14="http://schemas.microsoft.com/office/powerpoint/2010/main" val="3010219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74B82B-E628-D08B-7ED4-2BFF0503C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94" y="589412"/>
            <a:ext cx="7087713" cy="20872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A0B46-E47B-CD57-2C31-99F6615E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918" y="0"/>
            <a:ext cx="232880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B5A323-189A-3A9B-EE55-B98380B1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78" y="123585"/>
            <a:ext cx="3415898" cy="1325563"/>
          </a:xfrm>
        </p:spPr>
        <p:txBody>
          <a:bodyPr>
            <a:noAutofit/>
          </a:bodyPr>
          <a:lstStyle/>
          <a:p>
            <a:r>
              <a:rPr lang="en-DE" sz="2000" dirty="0"/>
              <a:t>2. ex-post identifying characteristics from existing clusters </a:t>
            </a:r>
          </a:p>
        </p:txBody>
      </p:sp>
    </p:spTree>
    <p:extLst>
      <p:ext uri="{BB962C8B-B14F-4D97-AF65-F5344CB8AC3E}">
        <p14:creationId xmlns:p14="http://schemas.microsoft.com/office/powerpoint/2010/main" val="3637825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2744-03B0-0CBD-1081-96A0C05A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A1AB-C785-8F88-92D3-618E76D75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CA460-CF77-064E-0327-82F69116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7917" y="1063402"/>
            <a:ext cx="12896618" cy="511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95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16ED-504A-C947-EE17-D1DA4760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2773-DD02-6EC5-5FDB-F17A8DBCF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203D2-9B2E-9DD0-4892-FE4F1D56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27" y="1362176"/>
            <a:ext cx="12602756" cy="49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5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5109-771F-B0F7-40D1-F98562F6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45227-1460-C285-782B-81FB32123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308" y="1027905"/>
            <a:ext cx="12854469" cy="50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15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2273-2DD9-86DA-35C8-94A4EEF7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B36F6-CD9A-7130-A999-5476F5809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78" y="365125"/>
            <a:ext cx="11964222" cy="50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1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764</Words>
  <Application>Microsoft Macintosh PowerPoint</Application>
  <PresentationFormat>Widescreen</PresentationFormat>
  <Paragraphs>116</Paragraphs>
  <Slides>23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28.04.2026</vt:lpstr>
      <vt:lpstr>Overall findings: </vt:lpstr>
      <vt:lpstr>PowerPoint Presentation</vt:lpstr>
      <vt:lpstr>PowerPoint Presentation</vt:lpstr>
      <vt:lpstr>GDV updated for Hypotheses</vt:lpstr>
      <vt:lpstr>GDV updated for Hypotheses</vt:lpstr>
      <vt:lpstr>Synonym Test: Extreme is a confounder? </vt:lpstr>
      <vt:lpstr>Extreme is a confounder? </vt:lpstr>
      <vt:lpstr>Extreme is a confounder? </vt:lpstr>
      <vt:lpstr>Extreme is a confounder? </vt:lpstr>
      <vt:lpstr>PowerPoint Presentation</vt:lpstr>
      <vt:lpstr>Impact of Gender vs. Emotion</vt:lpstr>
      <vt:lpstr>PowerPoint Presentation</vt:lpstr>
      <vt:lpstr>PowerPoint Presentation</vt:lpstr>
      <vt:lpstr>2 Ways to identify thematic clusters</vt:lpstr>
      <vt:lpstr>PowerPoint Presentation</vt:lpstr>
      <vt:lpstr>PowerPoint Presentation</vt:lpstr>
      <vt:lpstr>PowerPoint Presentation</vt:lpstr>
      <vt:lpstr>2. ex-post identifying characteristics from existing clusters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Hagen, Julia Isabel</dc:creator>
  <cp:lastModifiedBy>Hagen, Julia Isabel</cp:lastModifiedBy>
  <cp:revision>1</cp:revision>
  <dcterms:created xsi:type="dcterms:W3CDTF">2026-05-04T08:20:07Z</dcterms:created>
  <dcterms:modified xsi:type="dcterms:W3CDTF">2026-05-04T08:23:31Z</dcterms:modified>
</cp:coreProperties>
</file>